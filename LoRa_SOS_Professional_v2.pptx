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22860" cy="685800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" y="1280160"/>
            <a:ext cx="2798064" cy="2798064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2432304" cy="2432304"/>
          </a:xfrm>
          <a:prstGeom prst="roundRect">
            <a:avLst/>
          </a:prstGeom>
          <a:solidFill>
            <a:srgbClr val="C0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874519"/>
            <a:ext cx="27980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 panose="020F0502020204030204"/>
              </a:rPr>
              <a:t>SOS</a:t>
            </a:r>
            <a:endParaRPr sz="7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" y="2944368"/>
            <a:ext cx="2798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AAAA"/>
                </a:solidFill>
                <a:latin typeface="Calibri" panose="020F0502020204030204"/>
              </a:rPr>
              <a:t>EMERGENCY BEACON</a:t>
            </a:r>
            <a:endParaRPr sz="950" b="1" i="0">
              <a:solidFill>
                <a:srgbClr val="FFAAAA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5852160"/>
            <a:ext cx="3749039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5943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433 MHz  ·  ESP32  ·  LoRa  ·  FreeRTOS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" y="6263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Department of Electronics &amp; Communication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" y="6510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2026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96012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 panose="020F0502020204030204"/>
              </a:rPr>
              <a:t>OFFLINE</a:t>
            </a:r>
            <a:endParaRPr sz="13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23360" y="146304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 panose="020F0502020204030204"/>
              </a:rPr>
              <a:t>ESP32 LoRa Mesh</a:t>
            </a:r>
            <a:endParaRPr sz="5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3360" y="2450592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8EEF4"/>
                </a:solidFill>
                <a:latin typeface="Calibri" panose="020F0502020204030204"/>
              </a:rPr>
              <a:t>SOS Emergency
Communication System</a:t>
            </a:r>
            <a:endParaRPr sz="34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23360" y="3858768"/>
            <a:ext cx="7955279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23360" y="4041648"/>
            <a:ext cx="1737360" cy="292608"/>
          </a:xfrm>
          <a:prstGeom prst="round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405993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Captive Portal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2160" y="4041648"/>
            <a:ext cx="1371600" cy="292608"/>
          </a:xfrm>
          <a:prstGeom prst="round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05993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Mesh Relay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0" y="4041648"/>
            <a:ext cx="1828800" cy="292608"/>
          </a:xfrm>
          <a:prstGeom prst="round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05993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Rescue Dashboard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7639" y="4572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 panose="020F0502020204030204"/>
              </a:rPr>
              <a:t>~3 km</a:t>
            </a:r>
            <a:endParaRPr sz="2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4572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  <a:latin typeface="Calibri" panose="020F0502020204030204"/>
              </a:rPr>
              <a:t>&lt; $15</a:t>
            </a:r>
            <a:endParaRPr sz="26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4572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C67C"/>
                </a:solidFill>
                <a:latin typeface="Calibri" panose="020F0502020204030204"/>
              </a:rPr>
              <a:t>0 Internet</a:t>
            </a:r>
            <a:endParaRPr sz="22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77639" y="51389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LoRa Range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0" y="51389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Cost / Node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51389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Required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  ·  Full Firmware + Captive Portal + Rescue Dashboard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1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Table of Contents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What we will cover today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" y="1316736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30759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19" y="120700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Project Overview &amp; Motivation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19" y="15544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Why offline LoRa beats cellular in emergencies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0040" y="2130552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" y="2331720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32257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19" y="22219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System Architecture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19" y="256946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3-node mesh: Transmitter → Relay → Base Station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0040" y="3145536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6" y="3346704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337560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19" y="3236976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Hardware &amp; Wiring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19" y="358444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ESP32 + LoRa SX1278 + I²C LCD pin mapping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4160520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" y="4361688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352544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19" y="425195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Node 1 — SOS Transmitter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19" y="459943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Captive Portal + PWA + RTOS dual-core LoRa task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0040" y="5175504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" y="5376672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5367528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19" y="526694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Node 2 — Base Station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19" y="561441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LCD alarms + Rescue Dashboard + ACK broadcast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799" y="1115568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28815" y="1316736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5" y="130759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0879" y="120700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Node 3 — Mesh Relay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0879" y="15544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Hop limit, dedup cache, jitter anti-collision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00799" y="2130552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28815" y="2331720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5" y="232257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07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40879" y="22219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Software Stack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40879" y="256946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Arduino IDE, libraries, FreeRTOS architecture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00799" y="3145536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8815" y="3346704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8815" y="3337560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08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40879" y="3236976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Live Demo Flow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040879" y="358444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8-step walkthrough: Power Up → SAVED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400799" y="4160520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28815" y="4361688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5" y="4352544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09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040879" y="425195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Technical Deep-Dive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40879" y="459943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Thread safety, reliability, captive portal compat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400799" y="5175504"/>
            <a:ext cx="5577840" cy="868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28815" y="5376672"/>
            <a:ext cx="402336" cy="402336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5" y="5367528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10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040879" y="526694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Results &amp; Future Work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40879" y="561441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Achievements, cost summary, enhancements roadmap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2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01  —  Project Overview &amp; Motivation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Disaster scenarios where cellular networks fail but LoRa still works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5532120" cy="416052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4864" cy="41605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704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4D"/>
                </a:solidFill>
                <a:latin typeface="Calibri" panose="020F0502020204030204"/>
              </a:rPr>
              <a:t>THE PROBLEM</a:t>
            </a:r>
            <a:endParaRPr sz="11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" y="1517904"/>
            <a:ext cx="512064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174650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Earthquakes, floods &amp; tsunamis destroy cell towers first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0352" y="227685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94560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GPS satellites still function — but data has nowhere to go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0352" y="280720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24912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Victims cannot call for help or share their location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0352" y="3337559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55263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Rescue teams operate blind without victim coordinates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0352" y="3867911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85615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Satellite communicators (Garmin inReach) cost $400–$600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0352" y="439826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GSM modules require SIM cards, data plans &amp; signal coverage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1097280"/>
            <a:ext cx="5532120" cy="416052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097280"/>
            <a:ext cx="54864" cy="4160520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1704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7C"/>
                </a:solidFill>
                <a:latin typeface="Calibri" panose="020F0502020204030204"/>
              </a:rPr>
              <a:t>OUR SOLUTION</a:t>
            </a:r>
            <a:endParaRPr sz="11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10528" y="1517904"/>
            <a:ext cx="512064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10528" y="1746504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166420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Self-contained mesh using ESP32 + LoRa — no infrastructure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10528" y="2276856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5976" y="2194560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Victim's phone connects to WiFi hotspot (no SIM needed)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10528" y="2807208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5976" y="2724912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Browser auto-opens SOS web app via Captive Portal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10528" y="3337559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3255263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GPS coords transmitted over LoRa radio to rescue base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10528" y="3867911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3785615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Rescue team views real-time dashboard, resolves &amp; ACKs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10528" y="4398264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431596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Total hardware cost: under $15 per node (~₹1,200)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3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02  —  System Architecture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End-to-end packet flow: victim phone → LoRa mesh → rescue operator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3474720" cy="320040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E53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3474720" cy="502920"/>
          </a:xfrm>
          <a:prstGeom prst="rect">
            <a:avLst/>
          </a:prstGeom>
          <a:solidFill>
            <a:srgbClr val="44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15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4D"/>
                </a:solidFill>
                <a:latin typeface="Calibri" panose="020F0502020204030204"/>
              </a:rPr>
              <a:t>NODE 1</a:t>
            </a:r>
            <a:endParaRPr sz="10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1371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AA"/>
                </a:solidFill>
                <a:latin typeface="Calibri" panose="020F0502020204030204"/>
              </a:rPr>
              <a:t>SOS TRANSMITTER</a:t>
            </a:r>
            <a:endParaRPr sz="8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4632" y="1847088"/>
            <a:ext cx="54864" cy="54864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7190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WiFi AP:  SOS_EMERGENCY_AP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4632" y="2350008"/>
            <a:ext cx="54864" cy="54864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221991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IP:  192.168.4.1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4632" y="2852928"/>
            <a:ext cx="54864" cy="54864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724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Captive Portal Web App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4632" y="3355848"/>
            <a:ext cx="54864" cy="54864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2278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RTOS LoRa TX (Core 0)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3474720" cy="320040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097280"/>
            <a:ext cx="3474720" cy="502920"/>
          </a:xfrm>
          <a:prstGeom prst="rect">
            <a:avLst/>
          </a:prstGeom>
          <a:solidFill>
            <a:srgbClr val="493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1115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 panose="020F0502020204030204"/>
              </a:rPr>
              <a:t>NODE 3</a:t>
            </a:r>
            <a:endParaRPr sz="1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07992" y="1371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AA"/>
                </a:solidFill>
                <a:latin typeface="Calibri" panose="020F0502020204030204"/>
              </a:rPr>
              <a:t>MESH RELAY</a:t>
            </a:r>
            <a:endParaRPr sz="8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07992" y="1847088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17190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WiFi AP:  RELAY_NODE_3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07992" y="2350008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2221991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IP:  192.168.6.1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07992" y="2852928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2724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Hop limit: 2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07992" y="3355848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4296" y="32278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Jitter: 50–180 ms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366760" y="1097280"/>
            <a:ext cx="3474720" cy="320040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2DC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1097280"/>
            <a:ext cx="3474720" cy="502920"/>
          </a:xfrm>
          <a:prstGeom prst="rect">
            <a:avLst/>
          </a:prstGeom>
          <a:solidFill>
            <a:srgbClr val="0D3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1115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C"/>
                </a:solidFill>
                <a:latin typeface="Calibri" panose="020F0502020204030204"/>
              </a:rPr>
              <a:t>NODE 2</a:t>
            </a:r>
            <a:endParaRPr sz="1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31352" y="1371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AA"/>
                </a:solidFill>
                <a:latin typeface="Calibri" panose="020F0502020204030204"/>
              </a:rPr>
              <a:t>BASE STATION</a:t>
            </a:r>
            <a:endParaRPr sz="8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531352" y="1847088"/>
            <a:ext cx="54864" cy="54864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6" y="17190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WiFi AP:  RESCUE_BASE_AP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531352" y="2350008"/>
            <a:ext cx="54864" cy="54864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2221991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IP:  192.168.5.1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531352" y="2852928"/>
            <a:ext cx="54864" cy="54864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77656" y="2724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I²C LCD Display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531352" y="3355848"/>
            <a:ext cx="54864" cy="54864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32278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Rescue Dashboard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3794760" y="2423160"/>
            <a:ext cx="548640" cy="0"/>
          </a:xfrm>
          <a:prstGeom prst="line">
            <a:avLst/>
          </a:prstGeom>
          <a:ln w="25400">
            <a:solidFill>
              <a:srgbClr val="E53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840480" y="2176272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3E4D"/>
                </a:solidFill>
                <a:latin typeface="Calibri" panose="020F0502020204030204"/>
              </a:rPr>
              <a:t>SOS ▶</a:t>
            </a:r>
            <a:endParaRPr sz="900" b="1" i="0">
              <a:solidFill>
                <a:srgbClr val="E53E4D"/>
              </a:solidFill>
              <a:latin typeface="Calibri" panose="020F0502020204030204"/>
            </a:endParaRPr>
          </a:p>
        </p:txBody>
      </p:sp>
      <p:cxnSp>
        <p:nvCxnSpPr>
          <p:cNvPr id="46" name="Connector 45"/>
          <p:cNvCxnSpPr/>
          <p:nvPr/>
        </p:nvCxnSpPr>
        <p:spPr>
          <a:xfrm flipH="1">
            <a:off x="3794760" y="2788920"/>
            <a:ext cx="548640" cy="0"/>
          </a:xfrm>
          <a:prstGeom prst="line">
            <a:avLst/>
          </a:prstGeom>
          <a:ln w="25400">
            <a:solidFill>
              <a:srgbClr val="2DC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40480" y="274320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C67C"/>
                </a:solidFill>
                <a:latin typeface="Calibri" panose="020F0502020204030204"/>
              </a:rPr>
              <a:t>◀ ACK</a:t>
            </a:r>
            <a:endParaRPr sz="900" b="1" i="0">
              <a:solidFill>
                <a:srgbClr val="2DC67C"/>
              </a:solidFill>
              <a:latin typeface="Calibri" panose="020F0502020204030204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7818120" y="2423160"/>
            <a:ext cx="548640" cy="0"/>
          </a:xfrm>
          <a:prstGeom prst="line">
            <a:avLst/>
          </a:prstGeom>
          <a:ln w="25400">
            <a:solidFill>
              <a:srgbClr val="E53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63840" y="2176272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3E4D"/>
                </a:solidFill>
                <a:latin typeface="Calibri" panose="020F0502020204030204"/>
              </a:rPr>
              <a:t>SOS ▶</a:t>
            </a:r>
            <a:endParaRPr sz="900" b="1" i="0">
              <a:solidFill>
                <a:srgbClr val="E53E4D"/>
              </a:solidFill>
              <a:latin typeface="Calibri" panose="020F0502020204030204"/>
            </a:endParaRPr>
          </a:p>
        </p:txBody>
      </p:sp>
      <p:cxnSp>
        <p:nvCxnSpPr>
          <p:cNvPr id="50" name="Connector 49"/>
          <p:cNvCxnSpPr/>
          <p:nvPr/>
        </p:nvCxnSpPr>
        <p:spPr>
          <a:xfrm flipH="1">
            <a:off x="7818120" y="2788920"/>
            <a:ext cx="548640" cy="0"/>
          </a:xfrm>
          <a:prstGeom prst="line">
            <a:avLst/>
          </a:prstGeom>
          <a:ln w="25400">
            <a:solidFill>
              <a:srgbClr val="2DC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863840" y="274320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C67C"/>
                </a:solidFill>
                <a:latin typeface="Calibri" panose="020F0502020204030204"/>
              </a:rPr>
              <a:t>◀ ACK</a:t>
            </a:r>
            <a:endParaRPr sz="9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20040" y="4462272"/>
            <a:ext cx="11521440" cy="1097280"/>
          </a:xfrm>
          <a:prstGeom prst="roundRect">
            <a:avLst/>
          </a:prstGeom>
          <a:solidFill>
            <a:srgbClr val="0A111F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26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PACKET FORMATS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8640" y="4828032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B4D8"/>
                </a:solidFill>
                <a:latin typeface="Courier New" panose="02070309020205020404"/>
              </a:rPr>
              <a:t>SOS:  "SOS:[ID]:[LAT]:[LON]:[HOPS]"    e.g.  SOS:1749382:12.9716:77.5946:1</a:t>
            </a:r>
            <a:endParaRPr sz="1150" b="0">
              <a:solidFill>
                <a:srgbClr val="00B4D8"/>
              </a:solidFill>
              <a:latin typeface="Courier New" panose="02070309020205020404"/>
            </a:endParaRPr>
          </a:p>
          <a:p>
            <a:pPr algn="l"/>
            <a:r>
              <a:rPr sz="1150" b="0">
                <a:solidFill>
                  <a:srgbClr val="00B4D8"/>
                </a:solidFill>
                <a:latin typeface="Courier New" panose="02070309020205020404"/>
              </a:rPr>
              <a:t>ACK:  "ACK:[ID]:[HOPS]"                 e.g.  ACK:1749382:1</a:t>
            </a:r>
            <a:endParaRPr sz="1150" b="0">
              <a:solidFill>
                <a:srgbClr val="00B4D8"/>
              </a:solidFill>
              <a:latin typeface="Courier New" panose="020703090202050204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418320" y="4828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LoRa 433 MHz · SF7 · BW 125kHz · CR 4/5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4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03  —  Hardware Components &amp; Wiring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SPI pin mapping identical across all three nodes — 3.3 V strict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4160520" cy="422452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BILL OF MATERIALS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37033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Component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4600" y="15727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Used on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1572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Cost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" y="1828800"/>
            <a:ext cx="4142232" cy="493776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836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ESP32 WROOM-32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4600" y="18836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All nodes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20440" y="188366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~$4.00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" y="2331720"/>
            <a:ext cx="4142232" cy="493776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86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LoRa SX1278 (Ra-02)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14600" y="23865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All nodes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23865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~$4.50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" y="2834640"/>
            <a:ext cx="4142232" cy="493776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89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16×2 I²C LCD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4600" y="288950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Node 2 only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~$2.50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9184" y="3337560"/>
            <a:ext cx="4142232" cy="493776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92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Jumper wires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14600" y="33924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All nodes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20440" y="3392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~$1.00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9184" y="3840480"/>
            <a:ext cx="4142232" cy="493776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953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USB cable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14600" y="38953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Programming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20440" y="38953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~$1.00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9184" y="4343400"/>
            <a:ext cx="4142232" cy="493776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398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Breadboard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14600" y="43982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Prototyping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20440" y="439826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~$1.50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800600" y="1115568"/>
            <a:ext cx="7040880" cy="422452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11887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SPI WIRING  —  ALL NODES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0" y="1481328"/>
            <a:ext cx="658368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1572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LoRa Pin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80760" y="1572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ESP32 GPIO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60920" y="15727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Function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809744" y="1856232"/>
            <a:ext cx="7022592" cy="393192"/>
          </a:xfrm>
          <a:prstGeom prst="rect">
            <a:avLst/>
          </a:prstGeom>
          <a:solidFill>
            <a:srgbClr val="2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19019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4D"/>
                </a:solidFill>
                <a:latin typeface="Calibri" panose="020F0502020204030204"/>
              </a:rPr>
              <a:t>VCC</a:t>
            </a:r>
            <a:endParaRPr sz="11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80760" y="19019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3.3 V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60920" y="19019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4D"/>
                </a:solidFill>
                <a:latin typeface="Calibri" panose="020F0502020204030204"/>
              </a:rPr>
              <a:t>Power — NEVER connect to 5V!</a:t>
            </a:r>
            <a:endParaRPr sz="1100" b="0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809744" y="2258568"/>
            <a:ext cx="7022592" cy="393192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23042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GND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80760" y="23042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GND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60920" y="230428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Ground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09744" y="2660904"/>
            <a:ext cx="7022592" cy="39319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27066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MISO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80760" y="27066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19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60920" y="270662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SPI Master In Slave Out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809744" y="3063240"/>
            <a:ext cx="7022592" cy="393192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80" y="3108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MOSI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80760" y="3108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23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360920" y="31089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SPI Master Out Slave 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09744" y="3465576"/>
            <a:ext cx="7022592" cy="39319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3480" y="35112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SCK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80760" y="35112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18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60920" y="35112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SPI Clock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09744" y="3867912"/>
            <a:ext cx="7022592" cy="393192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83480" y="39136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NSS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080760" y="3913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5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60920" y="39136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SPI Chip Select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809744" y="4270248"/>
            <a:ext cx="7022592" cy="39319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4315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RST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080760" y="4315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14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360920" y="43159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Module Reset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809744" y="4672584"/>
            <a:ext cx="7022592" cy="393192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3480" y="4718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 panose="020F0502020204030204"/>
              </a:rPr>
              <a:t>DIO0</a:t>
            </a:r>
            <a:endParaRPr sz="1100" b="0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080760" y="47183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GPIO 4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360920" y="471830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Interrupt (not GPIO 2)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320040" y="5449824"/>
            <a:ext cx="11521440" cy="502920"/>
          </a:xfrm>
          <a:prstGeom prst="roundRect">
            <a:avLst/>
          </a:prstGeom>
          <a:solidFill>
            <a:srgbClr val="2A0808"/>
          </a:solidFill>
          <a:ln w="19050">
            <a:solidFill>
              <a:srgbClr val="E53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55138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4D"/>
                </a:solidFill>
                <a:latin typeface="Calibri" panose="020F0502020204030204"/>
              </a:rPr>
              <a:t>⚠  CRITICAL:  LoRa SX1278 / Ra-02 operates at 3.3 V strictly. Applying 5 V to VCC will permanently destroy the RF front-end.</a:t>
            </a:r>
            <a:endParaRPr sz="11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5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04  —  Node 1: SOS Transmitter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WiFi Captive Portal + Embedded PWA + RTOS LoRa broadcast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32120" cy="239572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CAPTIVE PORTAL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0749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27632"/>
            <a:ext cx="49194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SSID: SOS_EMERGENCY_AP  (open — no password)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12140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39112"/>
            <a:ext cx="49194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DNS wildcard: any domain → 192.168.4.1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253288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450592"/>
            <a:ext cx="49194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Android support: /generate_204 endpoint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294436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62072"/>
            <a:ext cx="49194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Windows support: /fwlink endpoint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35584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73552"/>
            <a:ext cx="49194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HTML/CSS/JS embedded in ESP32 flash (app_html.h)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1115568"/>
            <a:ext cx="5669280" cy="239572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SOS WEB APP  (PWA)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0" y="1481328"/>
            <a:ext cx="521208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1627632"/>
            <a:ext cx="50566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Auto-reads GPS via browser Geolocation API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212140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2039112"/>
            <a:ext cx="50566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Manual coordinate entry if GPS is denied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253288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450592"/>
            <a:ext cx="50566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Glowing SOS button — tap to broadcast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294436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862072"/>
            <a:ext cx="50566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Polls /status every 2 s: IDLE → BROADCASTING → SAVED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335584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273552"/>
            <a:ext cx="50566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Installable as offline PWA (manifest.json + sw.js)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0040" y="3639312"/>
            <a:ext cx="11521440" cy="1828800"/>
          </a:xfrm>
          <a:prstGeom prst="roundRect">
            <a:avLst/>
          </a:prstGeom>
          <a:solidFill>
            <a:srgbClr val="0A111F"/>
          </a:solidFill>
          <a:ln w="12700">
            <a:solidFill>
              <a:srgbClr val="E53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39312"/>
            <a:ext cx="54864" cy="182880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71246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4D"/>
                </a:solidFill>
                <a:latin typeface="Calibri" panose="020F0502020204030204"/>
              </a:rPr>
              <a:t>RTOS DUAL-CORE ARCHITECTURE</a:t>
            </a:r>
            <a:endParaRPr sz="10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30352" y="4041648"/>
            <a:ext cx="5303520" cy="1207008"/>
          </a:xfrm>
          <a:prstGeom prst="roundRect">
            <a:avLst/>
          </a:prstGeom>
          <a:solidFill>
            <a:srgbClr val="1A1010"/>
          </a:solidFill>
          <a:ln w="9525">
            <a:solidFill>
              <a:srgbClr val="E53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1148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4D"/>
                </a:solidFill>
                <a:latin typeface="Calibri" panose="020F0502020204030204"/>
              </a:rPr>
              <a:t>CORE 0  —  loraTask()</a:t>
            </a:r>
            <a:endParaRPr sz="10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3232" y="440740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Retransmits SOS every 4 s  (or on new packet ID)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  <a:p>
            <a:pPr algn="l">
              <a:spcBef>
                <a:spcPts val="560"/>
              </a:spcBef>
            </a:pPr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Listens for incoming ACK packets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  <a:p>
            <a:pPr algn="l">
              <a:spcBef>
                <a:spcPts val="560"/>
              </a:spcBef>
            </a:pPr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Auto-timeout: 60 s with no ACK → resets to IDLE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53912" y="4041648"/>
            <a:ext cx="5303520" cy="1207008"/>
          </a:xfrm>
          <a:prstGeom prst="roundRect">
            <a:avLst/>
          </a:prstGeom>
          <a:solidFill>
            <a:srgbClr val="101A10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4114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CORE 1  —  Web Server + DNS Loop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36792" y="440740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Handles HTTP: /send_sos, /status, /reset_status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  <a:p>
            <a:pPr algn="l">
              <a:spcBef>
                <a:spcPts val="560"/>
              </a:spcBef>
            </a:pPr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dnsServer.processNextRequest() — captive portal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  <a:p>
            <a:pPr algn="l">
              <a:spcBef>
                <a:spcPts val="560"/>
              </a:spcBef>
            </a:pPr>
            <a:r>
              <a:rPr sz="1100" b="0">
                <a:solidFill>
                  <a:srgbClr val="E8EEF4"/>
                </a:solidFill>
                <a:latin typeface="Calibri" panose="020F0502020204030204"/>
              </a:rPr>
              <a:t>• RTOS mutex (loraMutex) guards all SPI access</a:t>
            </a:r>
            <a:endParaRPr sz="110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833872" y="4645152"/>
            <a:ext cx="320040" cy="0"/>
          </a:xfrm>
          <a:prstGeom prst="line">
            <a:avLst/>
          </a:prstGeom>
          <a:ln w="1905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06440" y="44622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90AA"/>
                </a:solidFill>
                <a:latin typeface="Calibri" panose="020F0502020204030204"/>
              </a:rPr>
              <a:t>mutex</a:t>
            </a:r>
            <a:endParaRPr sz="8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6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05  —  Node 2: Base Station Receiver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LCD alarm + Rescue Dashboard + non-blocking ACK broadcast on Core 0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32120" cy="25786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LORA RECEPTION &amp; LCD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0749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27632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Parses SOS:[ID]:[LAT]:[LON]:[HOPS] — strips hop field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15798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75688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Stores up to 10 alerts in memory (struct SOSAlert[])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39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23744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De-duplicates by packet ID — silent re-RSSI update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05409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971800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LCD row 0: "SOS! RSSI:−72dB"  |  Row 1: coordinates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19856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Backlight flashes at 200 ms for 1 s to attract attention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1115568"/>
            <a:ext cx="5669280" cy="25786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RESCUE DASHBOARD  (http://rescue.local)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0" y="1481328"/>
            <a:ext cx="521208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1627632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WiFi AP: RESCUE_BASE_AP  |  IP: 192.168.5.1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215798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2075688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mDNS: http://rescue.local  (ESPmDNS library)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2606039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523744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Live alert list: ID, RSSI, coords, Google Maps link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05409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971800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"Resolve" → spawns RTOS ackSendTask on Core 0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3502152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419856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LCD shows "RESCUED! ACK Sent" with coordinates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0040" y="3813048"/>
            <a:ext cx="11521440" cy="1481328"/>
          </a:xfrm>
          <a:prstGeom prst="roundRect">
            <a:avLst/>
          </a:prstGeom>
          <a:solidFill>
            <a:srgbClr val="0A111F"/>
          </a:solidFill>
          <a:ln w="12700">
            <a:solidFill>
              <a:srgbClr val="2DC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813048"/>
            <a:ext cx="54864" cy="1481328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8862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C"/>
                </a:solidFill>
                <a:latin typeface="Calibri" panose="020F0502020204030204"/>
              </a:rPr>
              <a:t>ACK BROADCAST SEQUENCE  (Core 0 — non-blocking)</a:t>
            </a:r>
            <a:endParaRPr sz="1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8404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1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377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Operator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clicks Resolve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249424" y="4654296"/>
            <a:ext cx="109728" cy="0"/>
          </a:xfrm>
          <a:prstGeom prst="line">
            <a:avLst/>
          </a:prstGeom>
          <a:ln w="1270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30428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2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1401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alert.active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= false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169664" y="4654296"/>
            <a:ext cx="109728" cy="0"/>
          </a:xfrm>
          <a:prstGeom prst="line">
            <a:avLst/>
          </a:prstGeom>
          <a:ln w="1270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22452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3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3425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malloc(AckJob)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struct on heap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6089904" y="4654296"/>
            <a:ext cx="109728" cy="0"/>
          </a:xfrm>
          <a:prstGeom prst="line">
            <a:avLst/>
          </a:prstGeom>
          <a:ln w="1270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14476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4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5449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xTaskCreatePinnedToCore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Core 0 ackSendTask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8010144" y="4654296"/>
            <a:ext cx="109727" cy="0"/>
          </a:xfrm>
          <a:prstGeom prst="line">
            <a:avLst/>
          </a:prstGeom>
          <a:ln w="1270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06500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DC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C67C"/>
                </a:solidFill>
                <a:latin typeface="Calibri" panose="020F0502020204030204"/>
              </a:rPr>
              <a:t>5</a:t>
            </a:r>
            <a:endParaRPr sz="11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7473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Send ACK 3×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400 ms gaps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9930384" y="4654296"/>
            <a:ext cx="109727" cy="0"/>
          </a:xfrm>
          <a:prstGeom prst="line">
            <a:avLst/>
          </a:prstGeom>
          <a:ln w="12700">
            <a:solidFill>
              <a:srgbClr val="2A3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985248" y="4206240"/>
            <a:ext cx="1810512" cy="89611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7A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0" y="4224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A90AA"/>
                </a:solidFill>
                <a:latin typeface="Calibri" panose="020F0502020204030204"/>
              </a:rPr>
              <a:t>6</a:t>
            </a:r>
            <a:endParaRPr sz="11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94976" y="4370832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free(job)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  <a:p>
            <a:pPr algn="ctr"/>
            <a:r>
              <a:rPr sz="950" b="0">
                <a:solidFill>
                  <a:srgbClr val="E8EEF4"/>
                </a:solidFill>
                <a:latin typeface="Calibri" panose="020F0502020204030204"/>
              </a:rPr>
              <a:t>vTaskDelete</a:t>
            </a:r>
            <a:endParaRPr sz="9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7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06  —  Node 3: Mesh Relay / Repeater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Hop-limited, dedup-cached, jitter-delayed intelligent relay node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32120" cy="31089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RELAY LOGIC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50749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27632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Listens on 433 MHz for SOS and ACK packets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15798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75688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Hop-limit check: discard if HOPS ≥ 2 (configurable)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39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23744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Seen-cache ring buffer (30 entries) blocks duplicates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05409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971800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Increments hop count, rebuilds packet before relay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19856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Schedules relay after random jitter (50–180 ms)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395020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867912"/>
            <a:ext cx="49194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GPIO 2 LED blinks 30 ms on each forwarded packet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72200" y="1115568"/>
            <a:ext cx="5669280" cy="31089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RELAY STATUS DASHBOARD  (192.168.6.1)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1481328"/>
            <a:ext cx="521208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1627632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WiFi AP: RELAY_NODE_3  (no DNS, direct IP access)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215798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075688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Shows last 12 relayed events with RSSI + timestamp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2606039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523744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Live counters: SOS forwarded / ACK forwarded / Drops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305409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971800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JSON API:  GET /status_json  (poll from any client)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0" y="3502152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419856"/>
            <a:ext cx="50566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Malformed packet detection with serial debug output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20040" y="4352544"/>
            <a:ext cx="11521440" cy="1115568"/>
          </a:xfrm>
          <a:prstGeom prst="roundRect">
            <a:avLst/>
          </a:prstGeom>
          <a:solidFill>
            <a:srgbClr val="0A111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352544"/>
            <a:ext cx="54864" cy="11155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4256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 panose="020F0502020204030204"/>
              </a:rPr>
              <a:t>WHY RANDOM JITTER?</a:t>
            </a:r>
            <a:endParaRPr sz="1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0352" y="4736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8EEF4"/>
                </a:solidFill>
                <a:latin typeface="Calibri" panose="020F0502020204030204"/>
              </a:rPr>
              <a:t>If Node 1 (just transmitted) and Node 3 (about to relay) both transmit simultaneously, the signals collide on 433 MHz and corrupt each other — neither packet is received correctly.</a:t>
            </a:r>
            <a:endParaRPr sz="1150" b="0">
              <a:solidFill>
                <a:srgbClr val="E8EEF4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E8EEF4"/>
                </a:solidFill>
                <a:latin typeface="Calibri" panose="020F0502020204030204"/>
              </a:rPr>
              <a:t>Random jitter staggers TX windows. Same principle as CSMA/CA in WiFi and Bluetooth FHSS.</a:t>
            </a:r>
            <a:endParaRPr sz="11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8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07  —  Software Stack &amp; Libraries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Arduino IDE + ESP32 board package + FreeRTOS — all open-source, free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11521440" cy="457200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Library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7480" y="1188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Author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Key APIs Used in this Project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481328"/>
            <a:ext cx="112471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1536192"/>
            <a:ext cx="11503152" cy="566928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910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LoRa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97480" y="1591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Sandeep Mistry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1591056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SPI LoRa driver — beginPacket / endPacket / parsePacket / packetRssi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9184" y="2103120"/>
            <a:ext cx="11503152" cy="566928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579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 panose="020F0502020204030204"/>
              </a:rPr>
              <a:t>LiquidCrystal_I2C</a:t>
            </a:r>
            <a:endParaRPr sz="11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97480" y="21579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F. de Brabander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215798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I²C 16×2 LCD — init, backlight, noBacklight, print, setCursor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184" y="2670048"/>
            <a:ext cx="11503152" cy="566928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249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WiFi.h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7480" y="272491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ESP32 built-in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272491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WIFI_AP_STA mode — softAP, softAPConfig, begin, SSID, localIP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9184" y="3236975"/>
            <a:ext cx="11503152" cy="566928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9183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WebServer.h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97480" y="329183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ESP32 built-in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00600" y="3291839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HTTP server — on(), send(), sendHeader(), send_P(), method()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9184" y="3803904"/>
            <a:ext cx="11503152" cy="566928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58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 panose="020F0502020204030204"/>
              </a:rPr>
              <a:t>DNSServer.h</a:t>
            </a:r>
            <a:endParaRPr sz="11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97480" y="38587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ESP32 built-in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00600" y="3858768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DNS wildcard — start(port, "*", ip) for captive portal redirect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9184" y="4370832"/>
            <a:ext cx="11503152" cy="566928"/>
          </a:xfrm>
          <a:prstGeom prst="rect">
            <a:avLst/>
          </a:prstGeom>
          <a:solidFill>
            <a:srgbClr val="16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256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7C"/>
                </a:solidFill>
                <a:latin typeface="Calibri" panose="020F0502020204030204"/>
              </a:rPr>
              <a:t>ESPmDNS.h</a:t>
            </a:r>
            <a:endParaRPr sz="11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97480" y="442569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ESP32 built-in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00600" y="4425696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Multicast DNS — MDNS.begin("rescue") → http://rescue.local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9184" y="4937760"/>
            <a:ext cx="11503152" cy="566928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9926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7C"/>
                </a:solidFill>
                <a:latin typeface="Calibri" panose="020F0502020204030204"/>
              </a:rPr>
              <a:t>FreeRTOS</a:t>
            </a:r>
            <a:endParaRPr sz="11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97480" y="499262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AA"/>
                </a:solidFill>
                <a:latin typeface="Calibri" panose="020F0502020204030204"/>
              </a:rPr>
              <a:t>ESP-IDF / built-in</a:t>
            </a:r>
            <a:endParaRPr sz="11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00600" y="499262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xTaskCreatePinnedToCore, xSemaphoreCreateMutex, vTaskDelay, malloc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20040" y="5760720"/>
            <a:ext cx="11521440" cy="621792"/>
          </a:xfrm>
          <a:prstGeom prst="roundRect">
            <a:avLst/>
          </a:prstGeom>
          <a:solidFill>
            <a:srgbClr val="0A111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8338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SETUP: 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338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4"/>
                </a:solidFill>
                <a:latin typeface="Calibri" panose="020F0502020204030204"/>
              </a:rPr>
              <a:t>File › Preferences › add ESP32 board URL  →  Board Manager › "esp32 by Espressif"  →  Library Manager › LoRa + LiquidCrystal_I2C  →  Upload .ino to each node</a:t>
            </a:r>
            <a:endParaRPr sz="11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9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08  —  Live Demo: Step-by-Step Operation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Trace a complete SOS event from trigger to resolution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43584"/>
            <a:ext cx="384048" cy="38404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544" y="12527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Power Up All Nodes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682495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46504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Connect all 3 ESP32s to USB power. Open Serial Monitor @ 115200 baud. Node 2 LCD shows "LoRa Ready / Waiting for data".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91840" y="1115568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243584"/>
            <a:ext cx="384048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2344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95344" y="12527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Connect to WiFi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29000" y="1682495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746504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On victim phone: Settings → WiFi → connect to "SOS_EMERGENCY_AP". No password required.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1115568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243584"/>
            <a:ext cx="384048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67144" y="12527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Captive Portal Opens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1682495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746504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Phone auto-launches "SOS Emergency Beacon" in browser. GPS is silently read in background.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35440" y="1115568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1243584"/>
            <a:ext cx="384048" cy="38404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2344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38944" y="12527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Trigger SOS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372600" y="1682495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746504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Tap the red SOS button. Status changes to BROADCASTING. ESP32 transmits LoRa every 4 seconds.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0040" y="3419856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3547872"/>
            <a:ext cx="384048" cy="38404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38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3544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Node 3 Relays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3986784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5079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Relay receives packet, checks seen-cache, increments hop count, waits jitter delay, re-broadcasts.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91840" y="3419856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29000" y="3547872"/>
            <a:ext cx="384048" cy="38404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538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95344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Node 2 Receives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429000" y="3986784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05079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LCD backlight flashes rapidly. Screen shows coordinates + RSSI. Dashboard auto-updates.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63640" y="3419856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0" y="3547872"/>
            <a:ext cx="384048" cy="38404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538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07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67144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Operator Resolves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400800" y="3986784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05079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Operator connects to RESCUE_BASE_AP → opens http://rescue.local → clicks Resolve.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35440" y="3419856"/>
            <a:ext cx="2788920" cy="2121408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72600" y="3547872"/>
            <a:ext cx="384048" cy="38404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3538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08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838944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Victim Saved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72600" y="3986784"/>
            <a:ext cx="2514600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405079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EF4"/>
                </a:solidFill>
                <a:latin typeface="Calibri" panose="020F0502020204030204"/>
              </a:rPr>
              <a:t>ACK broadcast 3×. Node 3 relays ACK back. Node 1 receives → phone portal shows "SAVED ✅".</a:t>
            </a:r>
            <a:endParaRPr sz="1050" b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10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09  —  Technical Deep-Dive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Thread safety, reliability patterns, captive portal compatibility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32120" cy="217627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2176272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4D"/>
                </a:solidFill>
                <a:latin typeface="Calibri" panose="020F0502020204030204"/>
              </a:rPr>
              <a:t>THREAD SAFETY</a:t>
            </a:r>
            <a:endParaRPr sz="10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517904"/>
            <a:ext cx="525780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28216"/>
            <a:ext cx="64008" cy="6400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45919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loraMutex (xSemaphoreCreateMutex) guards every LoRa SPI call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130551"/>
            <a:ext cx="64008" cy="6400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048255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Core 0 task and Core 1 web handler never touch SPI simultaneously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532887"/>
            <a:ext cx="64008" cy="6400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50591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AckJob allocated on heap — no shared String across cores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935224"/>
            <a:ext cx="64008" cy="64008"/>
          </a:xfrm>
          <a:prstGeom prst="round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Volatile keyword on systemStatus for cross-core visibility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200" y="1115568"/>
            <a:ext cx="5669280" cy="217627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115568"/>
            <a:ext cx="54864" cy="2176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2070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CAPTIVE PORTAL COMPAT.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1517904"/>
            <a:ext cx="539496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72821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645919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/generate_204  → Android CNA (Captive Network Assist)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30551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048255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/fwlink         → Windows Network Assessment Service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55080" y="2532887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450591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DNS wildcard (*) → all domains resolve to 192.168.4.1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55080" y="293522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852928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Cache-Control: no-cache headers prevent stale portal page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0040" y="3429000"/>
            <a:ext cx="5532120" cy="217627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429000"/>
            <a:ext cx="54864" cy="21762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52044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 panose="020F0502020204030204"/>
              </a:rPr>
              <a:t>RELIABILITY FEATURES</a:t>
            </a:r>
            <a:endParaRPr sz="1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3831336"/>
            <a:ext cx="525780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041648"/>
            <a:ext cx="64008" cy="640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959352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SOS retransmit every 4 s until ACK or 60 s hard timeout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02920" y="4443984"/>
            <a:ext cx="64008" cy="640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61688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ACK sent 3× with 400 ms spacing — survives single-packet loss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02920" y="4846320"/>
            <a:ext cx="64008" cy="640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764024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LoRa init failure handled gracefully (WiFi-only fallback)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02920" y="5248656"/>
            <a:ext cx="64008" cy="640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166360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RESOLVE:[ID] serial command bypasses WiFi if dashboard fails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72200" y="3429000"/>
            <a:ext cx="5669280" cy="2176272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429000"/>
            <a:ext cx="54864" cy="2176272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520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C"/>
                </a:solidFill>
                <a:latin typeface="Calibri" panose="020F0502020204030204"/>
              </a:rPr>
              <a:t>DUPLICATE PREVENTION</a:t>
            </a:r>
            <a:endParaRPr sz="1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355080" y="3831336"/>
            <a:ext cx="539496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5080" y="4041648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3959352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Node 1: lastSentPacketID tracks in-flight packet ID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355080" y="4443984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4361688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Node 2: addAlert() by ID — reactivates, never double-counts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355080" y="4846320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4764024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Node 3: seenCache[30] ring buffer — O(n) scan before relay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355080" y="5248656"/>
            <a:ext cx="64008" cy="64008"/>
          </a:xfrm>
          <a:prstGeom prst="round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0528" y="5166360"/>
            <a:ext cx="5239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4"/>
                </a:solidFill>
                <a:latin typeface="Calibri" panose="020F0502020204030204"/>
              </a:rPr>
              <a:t>Malformed packets detected and counted as drops silently</a:t>
            </a:r>
            <a:endParaRPr sz="115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11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10  —  Results &amp; Future Work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" y="59436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AA"/>
                </a:solidFill>
                <a:latin typeface="Calibri" panose="020F0502020204030204"/>
              </a:rPr>
              <a:t>Achievements, cost analysis, and the roadmap ahead</a:t>
            </a:r>
            <a:endParaRPr sz="12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1115568"/>
            <a:ext cx="5532120" cy="352044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3520440"/>
          </a:xfrm>
          <a:prstGeom prst="rect">
            <a:avLst/>
          </a:prstGeom>
          <a:solidFill>
            <a:srgbClr val="2DC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C"/>
                </a:solidFill>
                <a:latin typeface="Calibri" panose="020F0502020204030204"/>
              </a:rPr>
              <a:t>WHAT WE ACHIEVED</a:t>
            </a:r>
            <a:endParaRPr sz="1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" y="1481328"/>
            <a:ext cx="507492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27632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Complete offline SOS system — zero internet dependency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0352" y="2185415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Captive portal with live GPS on any modern smartphone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0352" y="266090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Real-time Rescue Dashboard with Google Maps coordinates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0352" y="3136391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54096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Intelligent mesh relay — hop limit + collision avoidance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0352" y="3611880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9584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Thread-safe dual-core RTOS firmware architecture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0352" y="408736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05072"/>
            <a:ext cx="4919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Graceful degradation if LoRa hardware fails to init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2200" y="1115568"/>
            <a:ext cx="5669280" cy="352044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115568"/>
            <a:ext cx="54864" cy="3520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188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 panose="020F0502020204030204"/>
              </a:rPr>
              <a:t>FUTURE ENHANCEMENTS</a:t>
            </a:r>
            <a:endParaRPr sz="1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82512" y="1481328"/>
            <a:ext cx="5212080" cy="2286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2512" y="17099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627632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Extend mesh with 5+ relay nodes (multi-hop routing)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82512" y="2185415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103120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AES-128 packet encryption to prevent SOS spoofing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82512" y="266090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578608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Solar + LiPo power for 72-hour autonomous deployment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82512" y="3136391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054096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LoRaWAN uplink when internet is restored post-disaster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82512" y="3611880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29584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Multi-language portal (Hindi, Tamil, local languages)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382512" y="408736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005072"/>
            <a:ext cx="50566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Low-power deep sleep between transmit cycles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20040" y="4800600"/>
            <a:ext cx="11521440" cy="1005840"/>
          </a:xfrm>
          <a:prstGeom prst="roundRect">
            <a:avLst/>
          </a:prstGeom>
          <a:solidFill>
            <a:srgbClr val="0A111F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64608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 panose="020F0502020204030204"/>
              </a:rPr>
              <a:t>$4.00</a:t>
            </a:r>
            <a:endParaRPr sz="2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1479" y="532180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ESP32 WROOM-32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15184" y="4846320"/>
            <a:ext cx="16459" cy="8229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8" y="4864608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 panose="020F0502020204030204"/>
              </a:rPr>
              <a:t>$4.50</a:t>
            </a:r>
            <a:endParaRPr sz="2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15768" y="532180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LoRa SX1278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919472" y="4846320"/>
            <a:ext cx="16459" cy="8229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0055" y="4864608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 panose="020F0502020204030204"/>
              </a:rPr>
              <a:t>$2.50</a:t>
            </a:r>
            <a:endParaRPr sz="2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0055" y="532180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I²C LCD (Node 2)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223760" y="4846320"/>
            <a:ext cx="16459" cy="8229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24344" y="4864608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A90AA"/>
                </a:solidFill>
                <a:latin typeface="Calibri" panose="020F0502020204030204"/>
              </a:rPr>
              <a:t>$2.50</a:t>
            </a:r>
            <a:endParaRPr sz="2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24344" y="532180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Wires &amp; misc.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28048" y="4846320"/>
            <a:ext cx="16459" cy="8229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28632" y="4864608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C67C"/>
                </a:solidFill>
                <a:latin typeface="Calibri" panose="020F0502020204030204"/>
              </a:rPr>
              <a:t>≈$13.50</a:t>
            </a:r>
            <a:endParaRPr sz="2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628632" y="532180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Total / Node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6615684"/>
            <a:ext cx="11091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12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0"/>
            <a:ext cx="22860" cy="685800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6126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 panose="020F0502020204030204"/>
              </a:rPr>
              <a:t>THANK YOU</a:t>
            </a:r>
            <a:endParaRPr sz="6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4114800" cy="45720"/>
          </a:xfrm>
          <a:prstGeom prst="rect">
            <a:avLst/>
          </a:prstGeom>
          <a:solidFill>
            <a:srgbClr val="E5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EF4"/>
                </a:solidFill>
                <a:latin typeface="Calibri" panose="020F0502020204030204"/>
              </a:rPr>
              <a:t>Questions &amp; Discussion</a:t>
            </a:r>
            <a:endParaRPr sz="28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AA"/>
                </a:solidFill>
                <a:latin typeface="Calibri" panose="020F0502020204030204"/>
              </a:rPr>
              <a:t>Offline ESP32 LoRa Mesh SOS System</a:t>
            </a:r>
            <a:endParaRPr sz="16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6035040" cy="201168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22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PROJECT SUMMARY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4114800"/>
            <a:ext cx="557784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4334256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Node 1  →  SOS_EMERGENCY_AP  /  192.168.4.1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4754880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Node 2  →  RESCUE_BASE_AP  /  http://rescue.local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5175504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Node 3  →  RELAY_NODE_3  /  192.168.6.1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3232" y="5596128"/>
            <a:ext cx="64008" cy="6400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13832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4"/>
                </a:solidFill>
                <a:latin typeface="Calibri" panose="020F0502020204030204"/>
              </a:rPr>
              <a:t>LoRa: 433 MHz  |  Baud: 115200  |  Cost: &lt; $15 / node</a:t>
            </a:r>
            <a:endParaRPr sz="1200" b="0" i="0">
              <a:solidFill>
                <a:srgbClr val="E8EEF4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0" y="548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0AA"/>
                </a:solidFill>
                <a:latin typeface="Calibri" panose="020F0502020204030204"/>
              </a:rPr>
              <a:t>KEY SPECIFICATIONS</a:t>
            </a:r>
            <a:endParaRPr sz="1000" b="1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0" y="868680"/>
            <a:ext cx="4754880" cy="2286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86600" y="10058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3E4D"/>
                </a:solidFill>
                <a:latin typeface="Calibri" panose="020F0502020204030204"/>
              </a:rPr>
              <a:t>433 MHz</a:t>
            </a:r>
            <a:endParaRPr sz="3000" b="1" i="0">
              <a:solidFill>
                <a:srgbClr val="E53E4D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2011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LoRa Frequency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86600" y="28346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0632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 panose="020F0502020204030204"/>
              </a:rPr>
              <a:t>~3 km</a:t>
            </a:r>
            <a:endParaRPr sz="3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6600" y="3840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Open-air Range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86600" y="46634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8920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Calibri" panose="020F0502020204030204"/>
              </a:rPr>
              <a:t>2 Hops</a:t>
            </a:r>
            <a:endParaRPr sz="3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86600" y="56692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Max Mesh Depth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555480" y="10058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12344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DC67C"/>
                </a:solidFill>
                <a:latin typeface="Calibri" panose="020F0502020204030204"/>
              </a:rPr>
              <a:t>&lt; $15</a:t>
            </a:r>
            <a:endParaRPr sz="3000" b="1" i="0">
              <a:solidFill>
                <a:srgbClr val="2DC67C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55480" y="2011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Cost per Node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555480" y="28346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0632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 panose="020F0502020204030204"/>
              </a:rPr>
              <a:t>0</a:t>
            </a:r>
            <a:endParaRPr sz="30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55480" y="3840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Internet Required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555480" y="4663440"/>
            <a:ext cx="2286000" cy="1508760"/>
          </a:xfrm>
          <a:prstGeom prst="roundRect">
            <a:avLst/>
          </a:prstGeom>
          <a:solidFill>
            <a:srgbClr val="16223E"/>
          </a:solidFill>
          <a:ln w="9525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48920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Calibri" panose="020F0502020204030204"/>
              </a:rPr>
              <a:t>3</a:t>
            </a:r>
            <a:endParaRPr sz="3000" b="1" i="0">
              <a:solidFill>
                <a:srgbClr val="F5A623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555480" y="56692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0AA"/>
                </a:solidFill>
                <a:latin typeface="Calibri" panose="020F0502020204030204"/>
              </a:rPr>
              <a:t>Total Nodes</a:t>
            </a:r>
            <a:endParaRPr sz="10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88952" cy="16459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61568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Department of Electronics &amp; Communication  ·  2026  ·  github.com/[your-handle]/lora-sos-mesh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74552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0AA"/>
                </a:solidFill>
                <a:latin typeface="Calibri" panose="020F0502020204030204"/>
              </a:rPr>
              <a:t>13 / 11</a:t>
            </a:r>
            <a:endParaRPr sz="900" b="0" i="0">
              <a:solidFill>
                <a:srgbClr val="7A90A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10559</Words>
  <Application>WPS Presentation</Application>
  <PresentationFormat>On-screen Show (4:3)</PresentationFormat>
  <Paragraphs>728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 Bhuvanesh</cp:lastModifiedBy>
  <cp:revision>2</cp:revision>
  <dcterms:created xsi:type="dcterms:W3CDTF">2013-01-27T09:14:00Z</dcterms:created>
  <dcterms:modified xsi:type="dcterms:W3CDTF">2026-06-08T12:37:05Z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A7BA04312CCF43FFBA0D16FE2FC33C08_13</vt:lpwstr>
  </property>
  <property fmtid="{D5CDD505-2E9C-101B-9397-08002B2CF9AE}" pid="3" name="KSOProductBuildVer">
    <vt:lpwstr>1033-12.1.0.26372</vt:lpwstr>
  </property>
</Properties>
</file>